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2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29.xml" ContentType="application/vnd.openxmlformats-officedocument.presentationml.slide+xml"/>
  <Override PartName="/ppt/slides/_rels/slide13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62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79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78.xml.rels" ContentType="application/vnd.openxmlformats-package.relationships+xml"/>
  <Override PartName="/ppt/slides/_rels/slide15.xml.rels" ContentType="application/vnd.openxmlformats-package.relationships+xml"/>
  <Override PartName="/ppt/slides/_rels/slide5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14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63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70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67.xml.rels" ContentType="application/vnd.openxmlformats-package.relationships+xml"/>
  <Override PartName="/ppt/slides/_rels/slide30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76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73.xml.rels" ContentType="application/vnd.openxmlformats-package.relationships+xml"/>
  <Override PartName="/ppt/slides/_rels/slide72.xml.rels" ContentType="application/vnd.openxmlformats-package.relationships+xml"/>
  <Override PartName="/ppt/slides/_rels/slide69.xml.rels" ContentType="application/vnd.openxmlformats-package.relationships+xml"/>
  <Override PartName="/ppt/slides/_rels/slide32.xml.rels" ContentType="application/vnd.openxmlformats-package.relationships+xml"/>
  <Override PartName="/ppt/slides/_rels/slide68.xml.rels" ContentType="application/vnd.openxmlformats-package.relationships+xml"/>
  <Override PartName="/ppt/slides/_rels/slide31.xml.rels" ContentType="application/vnd.openxmlformats-package.relationships+xml"/>
  <Override PartName="/ppt/slides/_rels/slide46.xml.rels" ContentType="application/vnd.openxmlformats-package.relationships+xml"/>
  <Override PartName="/ppt/slides/_rels/slide16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79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_rels/presentation.xml.rels" ContentType="application/vnd.openxmlformats-package.relationships+xml"/>
  <Override PartName="/ppt/media/image29.jpeg" ContentType="image/jpeg"/>
  <Override PartName="/ppt/media/image28.png" ContentType="image/png"/>
  <Override PartName="/ppt/media/image27.png" ContentType="image/png"/>
  <Override PartName="/ppt/media/image21.jpeg" ContentType="image/jpeg"/>
  <Override PartName="/ppt/media/image26.png" ContentType="image/png"/>
  <Override PartName="/ppt/media/image25.jpeg" ContentType="image/jpeg"/>
  <Override PartName="/ppt/media/image30.png" ContentType="image/png"/>
  <Override PartName="/ppt/media/image24.jpeg" ContentType="image/jpeg"/>
  <Override PartName="/ppt/media/image2.jpeg" ContentType="image/jpeg"/>
  <Override PartName="/ppt/media/image20.png" ContentType="image/png"/>
  <Override PartName="/ppt/media/image23.jpeg" ContentType="image/jpeg"/>
  <Override PartName="/ppt/media/image10.png" ContentType="image/png"/>
  <Override PartName="/ppt/media/image47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22.jpeg" ContentType="image/jpeg"/>
  <Override PartName="/ppt/media/image37.png" ContentType="image/png"/>
  <Override PartName="/ppt/media/image59.jpeg" ContentType="image/jpe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11.png" ContentType="image/png"/>
  <Override PartName="/ppt/media/image48.png" ContentType="image/png"/>
  <Override PartName="/ppt/media/image44.png" ContentType="image/png"/>
  <Override PartName="/ppt/media/image45.png" ContentType="image/png"/>
  <Override PartName="/ppt/media/image50.png" ContentType="image/png"/>
  <Override PartName="/ppt/media/image13.png" ContentType="image/png"/>
  <Override PartName="/ppt/media/image51.png" ContentType="image/png"/>
  <Override PartName="/ppt/media/image53.png" ContentType="image/png"/>
  <Override PartName="/ppt/media/image43.png" ContentType="image/png"/>
  <Override PartName="/ppt/media/image55.png" ContentType="image/png"/>
  <Override PartName="/ppt/media/image9.png" ContentType="image/png"/>
  <Override PartName="/ppt/media/image18.png" ContentType="image/png"/>
  <Override PartName="/ppt/media/image42.png" ContentType="image/png"/>
  <Override PartName="/ppt/media/image54.png" ContentType="image/png"/>
  <Override PartName="/ppt/media/image8.png" ContentType="image/png"/>
  <Override PartName="/ppt/media/image56.jpeg" ContentType="image/jpeg"/>
  <Override PartName="/ppt/media/image4.png" ContentType="image/png"/>
  <Override PartName="/ppt/media/image36.png" ContentType="image/png"/>
  <Override PartName="/ppt/media/image52.jpeg" ContentType="image/jpeg"/>
  <Override PartName="/ppt/media/image46.png" ContentType="image/png"/>
  <Override PartName="/ppt/media/image17.png" ContentType="image/png"/>
  <Override PartName="/ppt/media/image57.jpeg" ContentType="image/jpeg"/>
  <Override PartName="/ppt/media/image58.png" ContentType="image/png"/>
  <Override PartName="/ppt/media/image41.png" ContentType="image/png"/>
  <Override PartName="/ppt/media/image40.png" ContentType="image/png"/>
  <Override PartName="/ppt/media/image34.png" ContentType="image/png"/>
  <Override PartName="/ppt/media/image32.png" ContentType="image/png"/>
  <Override PartName="/ppt/media/image31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45721F-D777-468B-8FD2-8D07033242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editar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do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681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116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83CBDE-B69D-463E-82E3-0D454AC217E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2940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mailto:edf.tercio@gmail.com" TargetMode="External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v3.mp4" TargetMode="External"/><Relationship Id="rId2" Type="http://schemas.openxmlformats.org/officeDocument/2006/relationships/image" Target="../media/image21.jpeg"/><Relationship Id="rId3" Type="http://schemas.openxmlformats.org/officeDocument/2006/relationships/hyperlink" Target="file:///home/tercio/Documentos/12_novo/videos/v3.mp4" TargetMode="External"/><Relationship Id="rId4" Type="http://schemas.openxmlformats.org/officeDocument/2006/relationships/hyperlink" Target="file:///home/tercio/Documentos/12_novo/videos/v3.mp4" TargetMode="External"/><Relationship Id="rId5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v4.mp4" TargetMode="External"/><Relationship Id="rId2" Type="http://schemas.openxmlformats.org/officeDocument/2006/relationships/image" Target="../media/image22.jpeg"/><Relationship Id="rId3" Type="http://schemas.openxmlformats.org/officeDocument/2006/relationships/hyperlink" Target="file:///home/tercio/Documentos/12_novo/videos/v4.mp4" TargetMode="External"/><Relationship Id="rId4" Type="http://schemas.openxmlformats.org/officeDocument/2006/relationships/hyperlink" Target="file:///home/tercio/Documentos/12_novo/videos/v4.mp4" TargetMode="External"/><Relationship Id="rId5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v1.mp4" TargetMode="External"/><Relationship Id="rId2" Type="http://schemas.openxmlformats.org/officeDocument/2006/relationships/image" Target="../media/image23.jpeg"/><Relationship Id="rId3" Type="http://schemas.openxmlformats.org/officeDocument/2006/relationships/hyperlink" Target="file:///home/tercio/Documentos/12_novo/videos/v1.mp4" TargetMode="External"/><Relationship Id="rId4" Type="http://schemas.openxmlformats.org/officeDocument/2006/relationships/hyperlink" Target="file:///home/tercio/Documentos/12_novo/videos/v1.mp4" TargetMode="External"/><Relationship Id="rId5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v2.mp4" TargetMode="External"/><Relationship Id="rId2" Type="http://schemas.openxmlformats.org/officeDocument/2006/relationships/image" Target="../media/image24.jpeg"/><Relationship Id="rId3" Type="http://schemas.openxmlformats.org/officeDocument/2006/relationships/hyperlink" Target="file:///home/tercio/Documentos/12_novo/videos/v2.mp4" TargetMode="External"/><Relationship Id="rId4" Type="http://schemas.openxmlformats.org/officeDocument/2006/relationships/hyperlink" Target="file:///home/tercio/Documentos/12_novo/videos/v2.mp4" TargetMode="External"/><Relationship Id="rId5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v5.mp4" TargetMode="External"/><Relationship Id="rId2" Type="http://schemas.openxmlformats.org/officeDocument/2006/relationships/image" Target="../media/image25.jpeg"/><Relationship Id="rId3" Type="http://schemas.openxmlformats.org/officeDocument/2006/relationships/hyperlink" Target="file:///home/tercio/Documentos/12_novo/videos/v5.mp4" TargetMode="External"/><Relationship Id="rId4" Type="http://schemas.openxmlformats.org/officeDocument/2006/relationships/hyperlink" Target="file:///home/tercio/Documentos/12_novo/videos/v5.mp4" TargetMode="External"/><Relationship Id="rId5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Lucas_lacerda_Foco_de_atencao.mp4" TargetMode="External"/><Relationship Id="rId2" Type="http://schemas.openxmlformats.org/officeDocument/2006/relationships/image" Target="../media/image52.jpeg"/><Relationship Id="rId3" Type="http://schemas.openxmlformats.org/officeDocument/2006/relationships/hyperlink" Target="file:///home/tercio/Documentos/12_novo/videos/Lucas_lacerda_Foco_de_atencao.mp4" TargetMode="External"/><Relationship Id="rId4" Type="http://schemas.openxmlformats.org/officeDocument/2006/relationships/hyperlink" Target="file:///home/tercio/Documentos/12_novo/videos/Lucas_lacerda_Foco_de_atencao.mp4" TargetMode="External"/><Relationship Id="rId5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Visual_cue.mp4" TargetMode="External"/><Relationship Id="rId2" Type="http://schemas.openxmlformats.org/officeDocument/2006/relationships/image" Target="../media/image56.jpeg"/><Relationship Id="rId3" Type="http://schemas.openxmlformats.org/officeDocument/2006/relationships/hyperlink" Target="file:///home/tercio/Documentos/12_novo/videos/Visual_cue.mp4" TargetMode="External"/><Relationship Id="rId4" Type="http://schemas.openxmlformats.org/officeDocument/2006/relationships/hyperlink" Target="file:///home/tercio/Documentos/12_novo/videos/Visual_cue.mp4" TargetMode="External"/><Relationship Id="rId5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Cycling_for_Freezing.mp4" TargetMode="External"/><Relationship Id="rId2" Type="http://schemas.openxmlformats.org/officeDocument/2006/relationships/image" Target="../media/image57.jpeg"/><Relationship Id="rId3" Type="http://schemas.openxmlformats.org/officeDocument/2006/relationships/hyperlink" Target="file:///home/tercio/Documentos/12_novo/videos/Cycling_for_Freezing.mp4" TargetMode="External"/><Relationship Id="rId4" Type="http://schemas.openxmlformats.org/officeDocument/2006/relationships/hyperlink" Target="file:///home/tercio/Documentos/12_novo/videos/Cycling_for_Freezing.mp4" TargetMode="External"/><Relationship Id="rId5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hyperlink" Target="file:///home/tercio/Documentos/12_novo/videos/gamificacao1.mp4" TargetMode="External"/><Relationship Id="rId2" Type="http://schemas.openxmlformats.org/officeDocument/2006/relationships/image" Target="../media/image59.jpeg"/><Relationship Id="rId3" Type="http://schemas.openxmlformats.org/officeDocument/2006/relationships/hyperlink" Target="file:///home/tercio/Documentos/12_novo/videos/gamificacao1.mp4" TargetMode="External"/><Relationship Id="rId4" Type="http://schemas.openxmlformats.org/officeDocument/2006/relationships/hyperlink" Target="file:///home/tercio/Documentos/12_novo/videos/gamificacao1.mp4" TargetMode="External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selo.png"/>
          <p:cNvPicPr/>
          <p:nvPr/>
        </p:nvPicPr>
        <p:blipFill>
          <a:blip r:embed="rId1"/>
          <a:stretch/>
        </p:blipFill>
        <p:spPr>
          <a:xfrm>
            <a:off x="4907160" y="320040"/>
            <a:ext cx="2373120" cy="11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Box 3"/>
          <p:cNvSpPr/>
          <p:nvPr/>
        </p:nvSpPr>
        <p:spPr>
          <a:xfrm>
            <a:off x="788760" y="3328920"/>
            <a:ext cx="109072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APRENDIZAGEM MOTORA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4"/>
          <p:cNvSpPr/>
          <p:nvPr/>
        </p:nvSpPr>
        <p:spPr>
          <a:xfrm>
            <a:off x="640080" y="4330080"/>
            <a:ext cx="109072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TÉRCIO APOLINÁRIO-SOUZA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5"/>
          <p:cNvSpPr/>
          <p:nvPr/>
        </p:nvSpPr>
        <p:spPr>
          <a:xfrm>
            <a:off x="640080" y="4906080"/>
            <a:ext cx="109072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2"/>
              </a:rPr>
              <a:t>edf.tercio@gmail.com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"/>
          <p:cNvSpPr/>
          <p:nvPr/>
        </p:nvSpPr>
        <p:spPr>
          <a:xfrm>
            <a:off x="640080" y="3078720"/>
            <a:ext cx="109072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INSTRUÇÃO VERBAL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080000" y="4500000"/>
            <a:ext cx="89982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“</a:t>
            </a:r>
            <a:r>
              <a:rPr b="0" i="1" lang="pt-BR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Seria tolice postular uma teoria segundo a qual todo o comportamento motor está sob controle verbal, pois as palavras são grosseiras quando comparadas à sutileza dos movimentos motores</a:t>
            </a: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”. (Adams 1971, p.115)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"/>
          <p:cNvSpPr/>
          <p:nvPr/>
        </p:nvSpPr>
        <p:spPr>
          <a:xfrm>
            <a:off x="608760" y="788040"/>
            <a:ext cx="109072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Conceito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Box 2"/>
          <p:cNvSpPr/>
          <p:nvPr/>
        </p:nvSpPr>
        <p:spPr>
          <a:xfrm>
            <a:off x="720000" y="2159640"/>
            <a:ext cx="10907280" cy="19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 </a:t>
            </a: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instrução verbal</a:t>
            </a:r>
            <a:r>
              <a:rPr b="0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transmite informações acerca da tarefa por meio da comunicação verbal.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Comunicação verbal - é todo tipo de passagem ou troca de informações por meio de linguagem escrita ou falada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/>
          <p:nvPr/>
        </p:nvSpPr>
        <p:spPr>
          <a:xfrm>
            <a:off x="640080" y="323892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Exemplos do efeito da instrução verbal...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 descr="Wooden.jpg"/>
          <p:cNvPicPr/>
          <p:nvPr/>
        </p:nvPicPr>
        <p:blipFill>
          <a:blip r:embed="rId1"/>
          <a:stretch/>
        </p:blipFill>
        <p:spPr>
          <a:xfrm>
            <a:off x="465480" y="720000"/>
            <a:ext cx="4750560" cy="31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Box 18"/>
          <p:cNvSpPr/>
          <p:nvPr/>
        </p:nvSpPr>
        <p:spPr>
          <a:xfrm>
            <a:off x="5728680" y="1484280"/>
            <a:ext cx="5787360" cy="24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Durante a temporada de 1974-1975, Tharp e Gallimore (1976) registraram e categorizaram cada ato de comunicação de </a:t>
            </a: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John Wooden</a:t>
            </a: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durante os treinos.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Cerca de 50,3% de todas as falas de Wooden eram instruções puras (o que fazer, como fazer e quando fazer).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900000" y="734040"/>
            <a:ext cx="5218560" cy="39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6480000" y="1080000"/>
            <a:ext cx="4858560" cy="28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As duas instruções verbais: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CMJ_rápido: 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"pule o mais alto e o mais rápido possível".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CMJ_alto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"pule o mais alto possível".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260000" y="5400000"/>
            <a:ext cx="971856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instrução CMJ_rápido não mudou a altura do salto, mas reduziu o tempo total e o tempo de contramovimento, e aumentou a velocidade do contramoviment.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0000" y="6480000"/>
            <a:ext cx="11358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Sánchez-Sixto, A., McMahon, J. J., &amp; Floría, P. (2024). Verbal instructions affect reactive strength index modified and time-series waveforms in basketball players. Sports biomechanics, 23(2), 211-221.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288000" y="576000"/>
            <a:ext cx="4858560" cy="254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1548000" y="3247920"/>
            <a:ext cx="200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Remada curvada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2"/>
          <a:srcRect l="0" t="0" r="8127" b="17139"/>
          <a:stretch/>
        </p:blipFill>
        <p:spPr>
          <a:xfrm>
            <a:off x="5220000" y="1260000"/>
            <a:ext cx="6227280" cy="399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"/>
          <p:cNvSpPr/>
          <p:nvPr/>
        </p:nvSpPr>
        <p:spPr>
          <a:xfrm>
            <a:off x="6660000" y="5148000"/>
            <a:ext cx="4498560" cy="2505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7128000" y="5148000"/>
            <a:ext cx="471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820360" y="5148000"/>
            <a:ext cx="62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0440360" y="5148000"/>
            <a:ext cx="38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88000" y="3996000"/>
            <a:ext cx="503856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Foco externo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"empurre o chão o mais forte e o mais rápido que puder"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Foco interno: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"contraia os músculos da perna o mais forte e o mais rápido possível"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044000" y="6300000"/>
            <a:ext cx="10755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Halperin et al. (2016). The effects of attentional focusing instructions on force production during the isometric midthigh pull. The Journal of Strength &amp; Conditioning Research, 30(4), 919-923.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0" descr="tilliar2.png"/>
          <p:cNvPicPr/>
          <p:nvPr/>
        </p:nvPicPr>
        <p:blipFill>
          <a:blip r:embed="rId1"/>
          <a:stretch/>
        </p:blipFill>
        <p:spPr>
          <a:xfrm>
            <a:off x="3441240" y="580680"/>
            <a:ext cx="5304600" cy="51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Box 20"/>
          <p:cNvSpPr/>
          <p:nvPr/>
        </p:nvSpPr>
        <p:spPr>
          <a:xfrm>
            <a:off x="640080" y="579780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VAN DEN TILLAAR, R., &amp; ETTEMA, G. (2003). INFLUENCE OF INSTRUCTION ON VELOCITY AND ACCURACY OF OVERARM THROWING. PERCEPTUAL AND MOTOR SKILLS, 96(2), 423-434.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1" descr="tilliar3.png"/>
          <p:cNvPicPr/>
          <p:nvPr/>
        </p:nvPicPr>
        <p:blipFill>
          <a:blip r:embed="rId1"/>
          <a:stretch/>
        </p:blipFill>
        <p:spPr>
          <a:xfrm>
            <a:off x="1725120" y="580680"/>
            <a:ext cx="8736840" cy="51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21"/>
          <p:cNvSpPr/>
          <p:nvPr/>
        </p:nvSpPr>
        <p:spPr>
          <a:xfrm>
            <a:off x="640080" y="579780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VAN DEN TILLAAR, R., &amp; ETTEMA, G. (2003). INFLUENCE OF INSTRUCTION ON VELOCITY AND ACCURACY OF OVERARM THROWING. PERCEPTUAL AND MOTOR SKILLS, 96(2), 423-434.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2" descr="Abreu1.png"/>
          <p:cNvPicPr/>
          <p:nvPr/>
        </p:nvPicPr>
        <p:blipFill>
          <a:blip r:embed="rId1"/>
          <a:stretch/>
        </p:blipFill>
        <p:spPr>
          <a:xfrm>
            <a:off x="1706760" y="1013400"/>
            <a:ext cx="8773920" cy="42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Box 22"/>
          <p:cNvSpPr/>
          <p:nvPr/>
        </p:nvSpPr>
        <p:spPr>
          <a:xfrm>
            <a:off x="640080" y="536508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ABREU ET AL., IMPACT OF IMPLICIT VS. EXPLICIT INSTRUCTIONS ON TACTICAL PERFORMANCE IN UNDER-20 SOCCER PLAYERS. FRONTIERS IN SPORTS AND ACTIVE LIVING, 6, 1441125.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3" descr="Abreu2.png"/>
          <p:cNvPicPr/>
          <p:nvPr/>
        </p:nvPicPr>
        <p:blipFill>
          <a:blip r:embed="rId1"/>
          <a:stretch/>
        </p:blipFill>
        <p:spPr>
          <a:xfrm>
            <a:off x="3261240" y="685440"/>
            <a:ext cx="5664960" cy="490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Box 23"/>
          <p:cNvSpPr/>
          <p:nvPr/>
        </p:nvSpPr>
        <p:spPr>
          <a:xfrm>
            <a:off x="640080" y="569304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ABREU ET AL., IMPACT OF IMPLICIT VS. EXPLICIT INSTRUCTIONS ON TACTICAL PERFORMANCE IN UNDER-20 SOCCER PLAYERS. FRONTIERS IN SPORTS AND ACTIVE LIVING, 6, 1441125.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/>
          <p:cNvSpPr/>
          <p:nvPr/>
        </p:nvSpPr>
        <p:spPr>
          <a:xfrm>
            <a:off x="640080" y="631440"/>
            <a:ext cx="1090728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Historicamente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360000" y="1617840"/>
            <a:ext cx="5478120" cy="41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just"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Grupo 1: recebeu uma explicação teórica sobre a refração da luz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Grupo 2: só praticou, sem explicação.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Primeiro, todos praticava com o alvo a uma certa profundidade (aprox. 30 cm). Depois, a profundidade foi reduzida (aprox. 10 cm.)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O grupo que recebeu a teoria foi melhor na transferência.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640080" y="2964240"/>
            <a:ext cx="10907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640080" y="3596760"/>
            <a:ext cx="1090728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640080" y="4518720"/>
            <a:ext cx="109072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640080" y="6406200"/>
            <a:ext cx="10907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Judd, C. H. (1908). The relation of special training and general intelligence. Educational Review, 36, 28–42.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5960160" y="2254680"/>
            <a:ext cx="6230160" cy="350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1442520" y="1551240"/>
            <a:ext cx="9536040" cy="25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As instruções estão presentes em quase todas situações formais de ensino.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Elas podem envolver...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160000" y="1698480"/>
            <a:ext cx="8098560" cy="44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"/>
          <p:cNvSpPr/>
          <p:nvPr/>
        </p:nvSpPr>
        <p:spPr>
          <a:xfrm>
            <a:off x="2846520" y="540000"/>
            <a:ext cx="63997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Informações gerais para um grupo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1980000" y="540000"/>
            <a:ext cx="8593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Onde e como os executantes devem se mover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Picture 2" descr="tilliar2.png"/>
          <p:cNvPicPr/>
          <p:nvPr/>
        </p:nvPicPr>
        <p:blipFill>
          <a:blip r:embed="rId1"/>
          <a:stretch/>
        </p:blipFill>
        <p:spPr>
          <a:xfrm>
            <a:off x="3240000" y="1342800"/>
            <a:ext cx="5038560" cy="48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2051280" y="540000"/>
            <a:ext cx="80272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Informações sobre mecânicas semelhantes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253520" y="2376000"/>
            <a:ext cx="4505040" cy="302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6235920" y="1800000"/>
            <a:ext cx="5462640" cy="363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4666320" y="5933880"/>
            <a:ext cx="2712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“Base ampla!”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3960000" y="1440000"/>
            <a:ext cx="3346200" cy="50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1393920" y="533520"/>
            <a:ext cx="8864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Informações sobre as consequências sensoriais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1080000" y="720000"/>
            <a:ext cx="989604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Considerações importantes sobre as instruções verbais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Conteúdo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Quando fornecer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 Quantidade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1332000" y="792000"/>
            <a:ext cx="98960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Conteúdo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O efeito depende da </a:t>
            </a:r>
            <a:r>
              <a:rPr b="1" lang="pt-BR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especificidade</a:t>
            </a: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da tarefa a ser executada.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 “memória motora” é dependente do contexto.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1440000" y="540000"/>
            <a:ext cx="9896040" cy="53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Conteúdo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Pode estar relacionado aos tipos de processos: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Perceptivos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Decisionais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Efetores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416000" y="6552000"/>
            <a:ext cx="4857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Landin, D. (1994). The role of verbal cues in skill learning. Quest, 46(3), 299-313.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1332000" y="540000"/>
            <a:ext cx="9896040" cy="19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Perceptivos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Auxilia na </a:t>
            </a: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identificação do estímulo</a:t>
            </a: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mais relevante.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rcRect l="15789" t="0" r="1977" b="0"/>
          <a:stretch/>
        </p:blipFill>
        <p:spPr>
          <a:xfrm>
            <a:off x="2880000" y="2462760"/>
            <a:ext cx="5217480" cy="373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7416000" y="6552360"/>
            <a:ext cx="4857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Landin, D. (1994). The role of verbal cues in skill learning. Quest, 46(3), 299-313.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1332000" y="540000"/>
            <a:ext cx="989604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Decisionais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Auxilia na </a:t>
            </a: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seleção da resposta</a:t>
            </a: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mais adequada.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rcRect l="21429" t="0" r="10709" b="0"/>
          <a:stretch/>
        </p:blipFill>
        <p:spPr>
          <a:xfrm>
            <a:off x="900000" y="2520000"/>
            <a:ext cx="3802680" cy="363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2"/>
          <a:srcRect l="21725" t="1400" r="3447" b="0"/>
          <a:stretch/>
        </p:blipFill>
        <p:spPr>
          <a:xfrm>
            <a:off x="5760000" y="2695680"/>
            <a:ext cx="4468320" cy="360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7416000" y="6552360"/>
            <a:ext cx="4857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Landin, D. (1994). The role of verbal cues in skill learning. Quest, 46(3), 299-313.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1332000" y="540000"/>
            <a:ext cx="9896040" cy="19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Efetores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Auxilia na </a:t>
            </a: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iniciação do movimento</a:t>
            </a: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após a seleção da resposta.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260000" y="2520000"/>
            <a:ext cx="98978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a) </a:t>
            </a: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Prontidão dos efetores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colocar os grupos musculares envolvidos em estado de alerta para o movimento que vem a seguir.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632160" y="3600000"/>
            <a:ext cx="5845680" cy="31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7200000" y="3194280"/>
            <a:ext cx="4379040" cy="328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7416000" y="6552360"/>
            <a:ext cx="4857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Landin, D. (1994). The role of verbal cues in skill learning. Quest, 46(3), 299-313.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1332000" y="540000"/>
            <a:ext cx="9896040" cy="19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Efetores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Auxilia na </a:t>
            </a:r>
            <a:r>
              <a:rPr b="1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iniciação do movimento</a:t>
            </a: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após a seleção da resposta.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440000" y="2700000"/>
            <a:ext cx="9897840" cy="14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b) </a:t>
            </a: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"Chunking" ou agrupamento: </a:t>
            </a: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juntar múltiplos componentes de uma sequência de movimento.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1440000" y="3600000"/>
            <a:ext cx="5757840" cy="314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7416000" y="6552360"/>
            <a:ext cx="4857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Landin, D. (1994). The role of verbal cues in skill learning. Quest, 46(3), 299-313.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1440000" y="540000"/>
            <a:ext cx="8636040" cy="65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Quando fornecer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- Antes da execução e, se necessário, durante a execução</a:t>
            </a:r>
            <a:r>
              <a: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- Se durante, a autofala é uma estratégia adequada.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- Espaçar as instruções durante os primeiros minutos de prática.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- Informação mais importante primeiro e ir adicionando detalhes.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- Ficar atento a influência da posição serial (primeiro e último elemento de uma sequência são lembrados com mais facilidade)</a:t>
            </a:r>
            <a:endParaRPr b="0" lang="pt-B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80" y="2871360"/>
            <a:ext cx="109072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640080" y="3511440"/>
            <a:ext cx="109072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640080" y="4151520"/>
            <a:ext cx="1090728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3" descr="v3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736520" y="772560"/>
            <a:ext cx="271440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Oval 4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videos/v3.mp4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 descr="v4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736520" y="772560"/>
            <a:ext cx="271440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Oval 1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3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videos/v4.mp4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5" descr="v1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736520" y="772560"/>
            <a:ext cx="271440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Oval 5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videos/v1.mp4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6" descr="v2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736520" y="772560"/>
            <a:ext cx="271440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Oval 6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videos/v2.mp4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7" descr="v5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736520" y="772560"/>
            <a:ext cx="271440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Oval 7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videos/v5.mp4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1260000" y="540000"/>
            <a:ext cx="9896040" cy="31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Quantidade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quantidade elevadas de de informações é prejudicial para aprendizagem.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260000" y="5940000"/>
            <a:ext cx="100771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 sinal sonoro é rapidamente decodificado em palavras reconhecidas; esse processo é, em geral, automático e “barato”.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260000" y="540000"/>
            <a:ext cx="58024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Como o sinal sonoro decodificado?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20000" y="1883160"/>
            <a:ext cx="3483000" cy="225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rcRect l="-3169" t="0" r="0" b="0"/>
          <a:stretch/>
        </p:blipFill>
        <p:spPr>
          <a:xfrm>
            <a:off x="5040000" y="1260000"/>
            <a:ext cx="5846400" cy="449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974880" y="4860000"/>
            <a:ext cx="2262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Modelo TRACE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684000" y="252000"/>
            <a:ext cx="10599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 que reduzir a quantidade de informações na instrução verbal?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800000" y="1800000"/>
            <a:ext cx="1976040" cy="3956040"/>
          </a:xfrm>
          <a:prstGeom prst="rect">
            <a:avLst/>
          </a:prstGeom>
          <a:solidFill>
            <a:srgbClr val="ffff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Armazenamento sensorial de curto prazo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60000" y="1980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360000" y="2340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360000" y="2700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360000" y="3060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360000" y="3384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2" name=""/>
          <p:cNvSpPr/>
          <p:nvPr/>
        </p:nvSpPr>
        <p:spPr>
          <a:xfrm>
            <a:off x="360000" y="3744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360000" y="4104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"/>
          <p:cNvSpPr/>
          <p:nvPr/>
        </p:nvSpPr>
        <p:spPr>
          <a:xfrm>
            <a:off x="360000" y="4464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"/>
          <p:cNvSpPr/>
          <p:nvPr/>
        </p:nvSpPr>
        <p:spPr>
          <a:xfrm>
            <a:off x="360000" y="4788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" name=""/>
          <p:cNvSpPr/>
          <p:nvPr/>
        </p:nvSpPr>
        <p:spPr>
          <a:xfrm>
            <a:off x="360000" y="5148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"/>
          <p:cNvSpPr/>
          <p:nvPr/>
        </p:nvSpPr>
        <p:spPr>
          <a:xfrm>
            <a:off x="360000" y="5508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" name=""/>
          <p:cNvSpPr/>
          <p:nvPr/>
        </p:nvSpPr>
        <p:spPr>
          <a:xfrm>
            <a:off x="122040" y="1197720"/>
            <a:ext cx="1854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Entradas sensoriais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888000" y="3384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3564000" y="2637720"/>
            <a:ext cx="1854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Via atenção seletiva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148000" y="2520000"/>
            <a:ext cx="1976040" cy="1616040"/>
          </a:xfrm>
          <a:prstGeom prst="rect">
            <a:avLst/>
          </a:prstGeom>
          <a:solidFill>
            <a:srgbClr val="00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Memória de trabalho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120000" y="4140000"/>
            <a:ext cx="360" cy="720000"/>
          </a:xfrm>
          <a:prstGeom prst="line">
            <a:avLst/>
          </a:prstGeom>
          <a:ln cap="rnd" w="0">
            <a:solidFill>
              <a:srgbClr val="000000"/>
            </a:solidFill>
            <a:prstDash val="dash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5184360" y="4906080"/>
            <a:ext cx="185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Movimento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8388000" y="2520000"/>
            <a:ext cx="1976040" cy="1616040"/>
          </a:xfrm>
          <a:prstGeom prst="rect">
            <a:avLst/>
          </a:prstGeom>
          <a:solidFill>
            <a:srgbClr val="00fe7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Memória de longo prazo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272000" y="3060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 flipH="1">
            <a:off x="7272000" y="3636000"/>
            <a:ext cx="10800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>
            <a:off x="6840000" y="2101320"/>
            <a:ext cx="185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Via de ensaio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6840360" y="4189680"/>
            <a:ext cx="1854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Via de processo de recuperação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556000" y="209880"/>
            <a:ext cx="5748120" cy="59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5075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075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075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112000" y="2664000"/>
            <a:ext cx="107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4" name=""/>
          <p:cNvSpPr/>
          <p:nvPr/>
        </p:nvSpPr>
        <p:spPr>
          <a:xfrm>
            <a:off x="4752000" y="2520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Buffer de consciência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132000" y="2556000"/>
            <a:ext cx="1076040" cy="71604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" name=""/>
          <p:cNvSpPr/>
          <p:nvPr/>
        </p:nvSpPr>
        <p:spPr>
          <a:xfrm>
            <a:off x="2808000" y="259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Executivo central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4320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"/>
          <p:cNvSpPr/>
          <p:nvPr/>
        </p:nvSpPr>
        <p:spPr>
          <a:xfrm>
            <a:off x="4320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"/>
          <p:cNvSpPr/>
          <p:nvPr/>
        </p:nvSpPr>
        <p:spPr>
          <a:xfrm>
            <a:off x="5760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" name=""/>
          <p:cNvSpPr/>
          <p:nvPr/>
        </p:nvSpPr>
        <p:spPr>
          <a:xfrm>
            <a:off x="4032000" y="3672000"/>
            <a:ext cx="179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Esboço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visuoespacial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544000" y="367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Alça fonológica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24000" y="6421320"/>
            <a:ext cx="926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Allen, R. J., Baddeley, A. D., &amp; Hitch, G. J. (2026). Awareness as the heart of working memory. Trends in Cognitive Sciences.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108000" y="209880"/>
            <a:ext cx="5748120" cy="59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2664000" y="2664000"/>
            <a:ext cx="107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2304000" y="2520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Buffer de consciência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84000" y="2556000"/>
            <a:ext cx="1076040" cy="71604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" name=""/>
          <p:cNvSpPr/>
          <p:nvPr/>
        </p:nvSpPr>
        <p:spPr>
          <a:xfrm>
            <a:off x="360000" y="259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Executivo central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"/>
          <p:cNvSpPr/>
          <p:nvPr/>
        </p:nvSpPr>
        <p:spPr>
          <a:xfrm>
            <a:off x="331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1584000" y="3672000"/>
            <a:ext cx="179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Esboço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visuoespacial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096000" y="367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Alça fonológica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24000" y="6421320"/>
            <a:ext cx="926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Allen, R. J., Baddeley, A. D., &amp; Hitch, G. J. (2026). Awareness as the heart of working memory. Trends in Cognitive Sciences.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988240" y="452520"/>
            <a:ext cx="5887800" cy="26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Executivo central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Coordena os processos cognitivos e faz o controle voltado a metas.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108000" y="209880"/>
            <a:ext cx="5748120" cy="59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2664000" y="2664000"/>
            <a:ext cx="107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"/>
          <p:cNvSpPr/>
          <p:nvPr/>
        </p:nvSpPr>
        <p:spPr>
          <a:xfrm>
            <a:off x="2304000" y="2520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Buffer de consciência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84000" y="2556000"/>
            <a:ext cx="1076040" cy="71604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" name=""/>
          <p:cNvSpPr/>
          <p:nvPr/>
        </p:nvSpPr>
        <p:spPr>
          <a:xfrm>
            <a:off x="360000" y="259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Executivo central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"/>
          <p:cNvSpPr/>
          <p:nvPr/>
        </p:nvSpPr>
        <p:spPr>
          <a:xfrm>
            <a:off x="331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"/>
          <p:cNvSpPr/>
          <p:nvPr/>
        </p:nvSpPr>
        <p:spPr>
          <a:xfrm>
            <a:off x="1584000" y="3672000"/>
            <a:ext cx="179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Esboço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visuoespacial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096000" y="367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Alça fonológica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24000" y="6421320"/>
            <a:ext cx="926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Allen, R. J., Baddeley, A. D., &amp; Hitch, G. J. (2026). Awareness as the heart of working memory. Trends in Cognitive Sciences.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988240" y="452520"/>
            <a:ext cx="588780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Buffer de consciência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Armazenamento temporário multimodal, de capacidade limitada e sujeito a esquecimento rápido.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Permite também monitorar metacognitivamente o próprio desempenho.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08000" y="209880"/>
            <a:ext cx="5748120" cy="59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664000" y="2664000"/>
            <a:ext cx="107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"/>
          <p:cNvSpPr/>
          <p:nvPr/>
        </p:nvSpPr>
        <p:spPr>
          <a:xfrm>
            <a:off x="2304000" y="2520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Buffer de consciência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84000" y="2556000"/>
            <a:ext cx="1076040" cy="71604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0" name=""/>
          <p:cNvSpPr/>
          <p:nvPr/>
        </p:nvSpPr>
        <p:spPr>
          <a:xfrm>
            <a:off x="360000" y="259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Executivo central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2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3" name=""/>
          <p:cNvSpPr/>
          <p:nvPr/>
        </p:nvSpPr>
        <p:spPr>
          <a:xfrm>
            <a:off x="331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"/>
          <p:cNvSpPr/>
          <p:nvPr/>
        </p:nvSpPr>
        <p:spPr>
          <a:xfrm>
            <a:off x="1584000" y="3672000"/>
            <a:ext cx="179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Esboço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visuoespacial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3096000" y="367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Alça fonológica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24000" y="6421320"/>
            <a:ext cx="926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Allen, R. J., Baddeley, A. D., &amp; Hitch, G. J. (2026). Awareness as the heart of working memory. Trends in Cognitive Sciences.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5988240" y="452520"/>
            <a:ext cx="5887800" cy="26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Alça fonológica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Sistema especializado que armazena e ensaia </a:t>
            </a:r>
            <a:r>
              <a:rPr b="0" lang="pt-BR" sz="26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informação verbal e auditiva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 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108000" y="209880"/>
            <a:ext cx="5748120" cy="59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2627280" y="553680"/>
            <a:ext cx="1260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bababa"/>
                </a:highlight>
                <a:uFillTx/>
                <a:latin typeface="Arial"/>
                <a:ea typeface="DejaVu Sans"/>
              </a:rPr>
              <a:t>Semântico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2664000" y="2664000"/>
            <a:ext cx="107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"/>
          <p:cNvSpPr/>
          <p:nvPr/>
        </p:nvSpPr>
        <p:spPr>
          <a:xfrm>
            <a:off x="2304000" y="2520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Buffer de consciência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684000" y="2556000"/>
            <a:ext cx="1076040" cy="716040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5" name=""/>
          <p:cNvSpPr/>
          <p:nvPr/>
        </p:nvSpPr>
        <p:spPr>
          <a:xfrm>
            <a:off x="360000" y="259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Executivo central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187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"/>
          <p:cNvSpPr/>
          <p:nvPr/>
        </p:nvSpPr>
        <p:spPr>
          <a:xfrm>
            <a:off x="3312000" y="3744000"/>
            <a:ext cx="1256040" cy="5360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9" name=""/>
          <p:cNvSpPr/>
          <p:nvPr/>
        </p:nvSpPr>
        <p:spPr>
          <a:xfrm>
            <a:off x="1584000" y="3672000"/>
            <a:ext cx="179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Esboço 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visuoespacial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3096000" y="3672000"/>
            <a:ext cx="1796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Alça fonológica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24000" y="6421320"/>
            <a:ext cx="926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Allen, R. J., Baddeley, A. D., &amp; Hitch, G. J. (2026). Awareness as the heart of working memory. Trends in Cognitive Sciences.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5988240" y="452520"/>
            <a:ext cx="5887800" cy="23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Esboço visuoespacial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Sistema especializado que armazena e ensaia </a:t>
            </a:r>
            <a:r>
              <a:rPr b="0" lang="pt-BR" sz="2600" strike="noStrike" u="sng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informação visual, espacial e motora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1066680" y="451080"/>
            <a:ext cx="9009360" cy="512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"/>
          <p:cNvSpPr/>
          <p:nvPr/>
        </p:nvSpPr>
        <p:spPr>
          <a:xfrm>
            <a:off x="1535040" y="6205320"/>
            <a:ext cx="926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Allen, R. J., Baddeley, A. D., &amp; Hitch, G. J. (2026). Awareness as the heart of working memory. Trends in Cognitive Sciences.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1080000" y="190440"/>
            <a:ext cx="9716040" cy="628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c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4"/>
          <p:cNvSpPr/>
          <p:nvPr/>
        </p:nvSpPr>
        <p:spPr>
          <a:xfrm>
            <a:off x="640080" y="411480"/>
            <a:ext cx="109072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 QUE É MELHOR, LER OU OUVIR A INSTRUÇÃO VERBAL?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14" descr="DrewsA.png"/>
          <p:cNvPicPr/>
          <p:nvPr/>
        </p:nvPicPr>
        <p:blipFill>
          <a:blip r:embed="rId1"/>
          <a:stretch/>
        </p:blipFill>
        <p:spPr>
          <a:xfrm>
            <a:off x="3586320" y="987480"/>
            <a:ext cx="5014800" cy="51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Box 25"/>
          <p:cNvSpPr/>
          <p:nvPr/>
        </p:nvSpPr>
        <p:spPr>
          <a:xfrm>
            <a:off x="640080" y="6265080"/>
            <a:ext cx="10907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Drews et al. (2024). Read or listen? Effects of different kinds of instruction on the learning of a sport motor skill. Motriz Revista de Educação Física, 30(1), e10230146-e10230146.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c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15" descr="DrewsB.png"/>
          <p:cNvPicPr/>
          <p:nvPr/>
        </p:nvPicPr>
        <p:blipFill>
          <a:blip r:embed="rId1"/>
          <a:stretch/>
        </p:blipFill>
        <p:spPr>
          <a:xfrm>
            <a:off x="2438280" y="473760"/>
            <a:ext cx="7310880" cy="475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Box 26"/>
          <p:cNvSpPr/>
          <p:nvPr/>
        </p:nvSpPr>
        <p:spPr>
          <a:xfrm>
            <a:off x="640080" y="5442480"/>
            <a:ext cx="10907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GIV = OUVIR; GIE = LER.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7"/>
          <p:cNvSpPr/>
          <p:nvPr/>
        </p:nvSpPr>
        <p:spPr>
          <a:xfrm>
            <a:off x="640080" y="6018480"/>
            <a:ext cx="109072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OBS. A INSTRUÇÃO VERBAL FOI COMPOSTA POR MUITAS PALAVRAS, ISSO PODE SER UM VIÉS.</a:t>
            </a:r>
            <a:endParaRPr b="0" lang="pt-B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608760" y="89208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COMO FORNECER INSTRUÇÃO?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20000" y="2674080"/>
            <a:ext cx="48560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Dicar verbais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Analogias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Foco de atenção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7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3867120" y="2828520"/>
            <a:ext cx="4410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4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Dicar verbais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>
            <a:off x="720000" y="540000"/>
            <a:ext cx="10617840" cy="16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As dicas verbais são frases concisas, geralmente de apenas </a:t>
            </a: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uma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ou </a:t>
            </a: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duas palavras</a:t>
            </a: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que direcionam a atenção do aprendiz o para estímulos relevantes da tarefa ou indicam elementos-chave do padrão de movimento.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rcRect l="0" t="0" r="0" b="6755"/>
          <a:stretch/>
        </p:blipFill>
        <p:spPr>
          <a:xfrm>
            <a:off x="3240000" y="2478600"/>
            <a:ext cx="6297840" cy="38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"/>
          <p:cNvSpPr/>
          <p:nvPr/>
        </p:nvSpPr>
        <p:spPr>
          <a:xfrm>
            <a:off x="7416000" y="6552360"/>
            <a:ext cx="4857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Landin, D. (1994). The role of verbal cues in skill learning. Quest, 46(3), 299-313.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c51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1" descr="dicas.png"/>
          <p:cNvPicPr/>
          <p:nvPr/>
        </p:nvPicPr>
        <p:blipFill>
          <a:blip r:embed="rId1"/>
          <a:stretch/>
        </p:blipFill>
        <p:spPr>
          <a:xfrm>
            <a:off x="1756440" y="868680"/>
            <a:ext cx="8674200" cy="511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900000" y="1080000"/>
            <a:ext cx="10267920" cy="521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"/>
          <p:cNvSpPr/>
          <p:nvPr/>
        </p:nvSpPr>
        <p:spPr>
          <a:xfrm>
            <a:off x="4320000" y="360000"/>
            <a:ext cx="4421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Teste de retenção (persistência)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363960" y="6480360"/>
            <a:ext cx="104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Xie, et al., (2017). The more total cognitive load is reduced by cues, the better retention and transfer of multimedia learning: A meta-analysis and two meta-regression analyses. PloS one, 12(8), e0183884.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4320000" y="360000"/>
            <a:ext cx="5335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Teste de transferência (adaptabilidade)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1440000" y="900000"/>
            <a:ext cx="9672480" cy="539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364320" y="6480360"/>
            <a:ext cx="104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Xie, et al., (2017). The more total cognitive load is reduced by cues, the better retention and transfer of multimedia learning: A meta-analysis and two meta-regression analyses. PloS one, 12(8), e0183884.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3960000" y="360000"/>
            <a:ext cx="4866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Relação entre carga cognitiva e AM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3060000" y="1085760"/>
            <a:ext cx="6315840" cy="48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"/>
          <p:cNvSpPr/>
          <p:nvPr/>
        </p:nvSpPr>
        <p:spPr>
          <a:xfrm>
            <a:off x="5502960" y="5557680"/>
            <a:ext cx="18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Carga cognitiva*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 rot="16200000">
            <a:off x="2667960" y="2957040"/>
            <a:ext cx="1158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Retenção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38680" y="5940000"/>
            <a:ext cx="382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*Negativo significa "carga cognitiva reduzida"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63960" y="6480360"/>
            <a:ext cx="104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Xie, et al., (2017). The more total cognitive load is reduced by cues, the better retention and transfer of multimedia learning: A meta-analysis and two meta-regression analyses. PloS one, 12(8), e0183884.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3047400" y="1000080"/>
            <a:ext cx="5950440" cy="475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"/>
          <p:cNvSpPr/>
          <p:nvPr/>
        </p:nvSpPr>
        <p:spPr>
          <a:xfrm>
            <a:off x="3960000" y="360000"/>
            <a:ext cx="4866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2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Relação entre carga cognitiva e AM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5466960" y="5413680"/>
            <a:ext cx="187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Carga cognitiva*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 rot="16200000">
            <a:off x="2462760" y="2751840"/>
            <a:ext cx="156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Transferência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238680" y="5940000"/>
            <a:ext cx="382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*Negativo significa "carga cognitiva reduzida"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64320" y="6480360"/>
            <a:ext cx="10477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Xie, et al., (2017). The more total cognitive load is reduced by cues, the better retention and transfer of multimedia learning: A meta-analysis and two meta-regression analyses. PloS one, 12(8), e0183884.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4b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>
            <a:off x="3060000" y="2815200"/>
            <a:ext cx="5909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Analogias verbais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1188000" y="900000"/>
            <a:ext cx="10257840" cy="43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 função da analogia é </a:t>
            </a:r>
            <a:r>
              <a:rPr b="1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integrar a complexa estrutura de regras da habilidade</a:t>
            </a: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a ser aprendida em uma </a:t>
            </a:r>
            <a:r>
              <a:rPr b="1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metáfora simples</a:t>
            </a: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, que possa ser reproduzida pelo aprendiz.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Simplifica tarefas motoras complexas ao integrar uma grande quantidade de conhecimento declarativo em um único conceito familiar.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1" descr="Liao2011.png"/>
          <p:cNvPicPr/>
          <p:nvPr/>
        </p:nvPicPr>
        <p:blipFill>
          <a:blip r:embed="rId1"/>
          <a:stretch/>
        </p:blipFill>
        <p:spPr>
          <a:xfrm>
            <a:off x="532080" y="900000"/>
            <a:ext cx="10805760" cy="346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Box 2"/>
          <p:cNvSpPr/>
          <p:nvPr/>
        </p:nvSpPr>
        <p:spPr>
          <a:xfrm>
            <a:off x="640080" y="464652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CHU-MIN LIAO &amp; RICHARD S.W. MASTERS (2001) ANALOGY LEARNING: A MEANS TO IMPLICIT MOTOR LEARNING, JOURNAL OF SPORTS SCIENCES, 19:5, 307-319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40080" y="214164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3 Grupos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640080" y="278172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Analogia - “desenhe um triângulo retângulo com a raquete.”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40080" y="355896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Explícito – 12 passos para realização do movimento considerando a técnica.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"/>
          <p:cNvSpPr/>
          <p:nvPr/>
        </p:nvSpPr>
        <p:spPr>
          <a:xfrm>
            <a:off x="640080" y="433620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Implícito – sem instrução da técnica.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3965040" y="268560"/>
            <a:ext cx="45536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2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Experimento 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" descr=""/>
          <p:cNvPicPr/>
          <p:nvPr/>
        </p:nvPicPr>
        <p:blipFill>
          <a:blip r:embed="rId1"/>
          <a:srcRect l="9180" t="0" r="0" b="0"/>
          <a:stretch/>
        </p:blipFill>
        <p:spPr>
          <a:xfrm>
            <a:off x="2570400" y="639360"/>
            <a:ext cx="7183440" cy="547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"/>
          <p:cNvSpPr/>
          <p:nvPr/>
        </p:nvSpPr>
        <p:spPr>
          <a:xfrm rot="16200000">
            <a:off x="468360" y="2588040"/>
            <a:ext cx="32432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                                   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Quantidade de regras explícitas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420000" y="5184000"/>
            <a:ext cx="1739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Analogias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5796000" y="5184000"/>
            <a:ext cx="1501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Implícito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7992000" y="5184000"/>
            <a:ext cx="1502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Explicito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Picture 1" descr="Liao2011_1.png"/>
          <p:cNvPicPr/>
          <p:nvPr/>
        </p:nvPicPr>
        <p:blipFill>
          <a:blip r:embed="rId1"/>
          <a:stretch/>
        </p:blipFill>
        <p:spPr>
          <a:xfrm>
            <a:off x="1706760" y="882360"/>
            <a:ext cx="8773920" cy="451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"/>
          <p:cNvSpPr/>
          <p:nvPr/>
        </p:nvSpPr>
        <p:spPr>
          <a:xfrm>
            <a:off x="9360000" y="4500000"/>
            <a:ext cx="1077840" cy="537840"/>
          </a:xfrm>
          <a:prstGeom prst="wedgeRoundRectCallout">
            <a:avLst>
              <a:gd name="adj1" fmla="val -141935"/>
              <a:gd name="adj2" fmla="val 60523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2ª tarefa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>
            <a:off x="3960000" y="792000"/>
            <a:ext cx="4340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Experimento 2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080000" y="1719720"/>
            <a:ext cx="9717840" cy="54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Os participantes do experimento 1 foram divididos em quatro grupos: 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Ameaça ao ego (ego-threatening): uma manipulação de pressão psicológica. 2. Supressão de pensamento: pedir para o participante não pensar em como executar o golpe, testando o efeito irônico de rebote. "não pense no urso branco" faz a pessoa pensar nele com mais frequência.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1260000" y="2160000"/>
            <a:ext cx="8494560" cy="405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" descr=""/>
          <p:cNvPicPr/>
          <p:nvPr/>
        </p:nvPicPr>
        <p:blipFill>
          <a:blip r:embed="rId1"/>
          <a:srcRect l="8399" t="0" r="0" b="0"/>
          <a:stretch/>
        </p:blipFill>
        <p:spPr>
          <a:xfrm>
            <a:off x="2520000" y="1260000"/>
            <a:ext cx="7178040" cy="472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"/>
          <p:cNvSpPr/>
          <p:nvPr/>
        </p:nvSpPr>
        <p:spPr>
          <a:xfrm rot="16200000">
            <a:off x="396720" y="2984400"/>
            <a:ext cx="32432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                                   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2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Quantidade de regras explícitas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2916360" y="5328000"/>
            <a:ext cx="1739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Analogias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4788360" y="5292000"/>
            <a:ext cx="1502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Explicito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336720" y="5292000"/>
            <a:ext cx="15616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Controle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Analogia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8048880" y="5292360"/>
            <a:ext cx="15217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Controle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Explícito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1260000" y="529920"/>
            <a:ext cx="9705240" cy="576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1"/>
          <p:cNvSpPr/>
          <p:nvPr/>
        </p:nvSpPr>
        <p:spPr>
          <a:xfrm>
            <a:off x="900000" y="591120"/>
            <a:ext cx="1090728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Explicação para benefícios das analogias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"/>
          <p:cNvSpPr/>
          <p:nvPr/>
        </p:nvSpPr>
        <p:spPr>
          <a:xfrm>
            <a:off x="792000" y="3255840"/>
            <a:ext cx="10907280" cy="15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Aprendizagem implícita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Teoria do reinvestimento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5760000" y="1440000"/>
            <a:ext cx="899280" cy="1619280"/>
          </a:xfrm>
          <a:prstGeom prst="downArrow">
            <a:avLst>
              <a:gd name="adj1" fmla="val 50000"/>
              <a:gd name="adj2" fmla="val 4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>
            <a:off x="720000" y="820440"/>
            <a:ext cx="10797840" cy="22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Aprendizagem explícita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quando os indivíduos utilizam </a:t>
            </a: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deliberadamente estratégias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de resolução de problemas, como a geração ou o teste de hipóteses, para adquirir conhecimento.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Aprendizagem implícita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 quando os indivíduos acumulam conhecimento passivamente e </a:t>
            </a:r>
            <a:r>
              <a:rPr b="1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não utilizam estratégias analíticas</a:t>
            </a: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conscientes.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080000" y="6343560"/>
            <a:ext cx="104378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Berry, D.C. and Dienes, Z. (1993). Towards a working char- acterisation of implicit learning. In Implicit Learning: Theoretical and Empirical Issues (edited by D.C. Berry and Z. Dienes), pp. 1±18. Hove: Lawrence Erlbaum Associates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" descr=""/>
          <p:cNvPicPr/>
          <p:nvPr/>
        </p:nvPicPr>
        <p:blipFill>
          <a:blip r:embed="rId1"/>
          <a:stretch/>
        </p:blipFill>
        <p:spPr>
          <a:xfrm>
            <a:off x="664200" y="3060000"/>
            <a:ext cx="5273640" cy="287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"/>
          <p:cNvSpPr/>
          <p:nvPr/>
        </p:nvSpPr>
        <p:spPr>
          <a:xfrm>
            <a:off x="2054520" y="5919840"/>
            <a:ext cx="2803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Jogo dos 10 passes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2"/>
          <a:srcRect l="15590" t="6477" r="6814" b="10204"/>
          <a:stretch/>
        </p:blipFill>
        <p:spPr>
          <a:xfrm>
            <a:off x="6300360" y="3107520"/>
            <a:ext cx="4677480" cy="2830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" descr=""/>
          <p:cNvPicPr/>
          <p:nvPr/>
        </p:nvPicPr>
        <p:blipFill>
          <a:blip r:embed="rId1"/>
          <a:stretch/>
        </p:blipFill>
        <p:spPr>
          <a:xfrm>
            <a:off x="-135720" y="-22320"/>
            <a:ext cx="12735360" cy="695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"/>
          <p:cNvSpPr/>
          <p:nvPr/>
        </p:nvSpPr>
        <p:spPr>
          <a:xfrm>
            <a:off x="5040000" y="3636000"/>
            <a:ext cx="6839640" cy="24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Processos motores relativamente automatizados podem ser perturbados se o executante tentar controlá-los conscientemente, usando conhecimento declarativo explícito para regular a mecânica do movimento em tempo real.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3276000" y="346320"/>
            <a:ext cx="6443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pt-BR" sz="4000" strike="noStrike" u="non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DejaVu Sans"/>
              </a:rPr>
              <a:t>Teoria do reinvestimento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2"/>
          <a:stretch/>
        </p:blipFill>
        <p:spPr>
          <a:xfrm>
            <a:off x="540000" y="2206800"/>
            <a:ext cx="3259440" cy="409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900000" y="540000"/>
            <a:ext cx="10437840" cy="50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 mecanismo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 executante acumula conhecimento declarativo (regras, instruções, autoexplicações).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Esse conhecimento é trazido de volta à consciência e usado para controlar o movimento passo a passo.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Isso interrompe o fluxo automático, reintroduzindo controle explícito onde antes havia automaticidade.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Resultado: desempenho pior, mais lento, mais sujeito a erro — o que no esporte é comumente chamado de "choking".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>
            <a:off x="1081440" y="180000"/>
            <a:ext cx="9897840" cy="58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Masters e Maxwell (2008) listam vários gatilhos, entre eles: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1. Pressão psicológica (o mais estudado).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 Metas de processo (atenção a componentes específicos do movimento).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 Autofala.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 Tentar não pensar no movimento (efeito irônico de rebote, Wegner).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 Mudanças de equipamento ou de tarefa que forçam reavaliação consciente.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 Fadiga, ansiedade, reabilitação (em quadros clínicos como Parkinson e AVC).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1"/>
          <p:cNvSpPr/>
          <p:nvPr/>
        </p:nvSpPr>
        <p:spPr>
          <a:xfrm>
            <a:off x="640080" y="3078720"/>
            <a:ext cx="109072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FOCO DE ATENÇÃO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1"/>
          <p:cNvSpPr/>
          <p:nvPr/>
        </p:nvSpPr>
        <p:spPr>
          <a:xfrm>
            <a:off x="640080" y="278172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Interno</a:t>
            </a:r>
            <a:r>
              <a:rPr b="0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. Direcionamento para aspectos do seu próprio movimento.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"/>
          <p:cNvSpPr/>
          <p:nvPr/>
        </p:nvSpPr>
        <p:spPr>
          <a:xfrm>
            <a:off x="640080" y="3696120"/>
            <a:ext cx="1090728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Externo</a:t>
            </a:r>
            <a:r>
              <a:rPr b="0" lang="en-US" sz="19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. Direcionamento para efeito do movimento no provocou no ambiente.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Picture 1" descr="foco.png"/>
          <p:cNvPicPr/>
          <p:nvPr/>
        </p:nvPicPr>
        <p:blipFill>
          <a:blip r:embed="rId1"/>
          <a:stretch/>
        </p:blipFill>
        <p:spPr>
          <a:xfrm>
            <a:off x="3553200" y="580680"/>
            <a:ext cx="5081040" cy="51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2"/>
          <p:cNvSpPr/>
          <p:nvPr/>
        </p:nvSpPr>
        <p:spPr>
          <a:xfrm>
            <a:off x="640080" y="5683680"/>
            <a:ext cx="109072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WULF, HOB E PRINZ. INSTRUCTIONS FOR MOTOR LEARNING: DIFFERENTIAL EFFECTS OF INTERNAL VERSUS EXTERNAL FOCUS OF ATTENTION. JOURNAL OF MOTOR BEHAVIOR, 1998, VOL. 30, NO. 2, 169-179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1" descr="foco7.png"/>
          <p:cNvPicPr/>
          <p:nvPr/>
        </p:nvPicPr>
        <p:blipFill>
          <a:blip r:embed="rId1"/>
          <a:stretch/>
        </p:blipFill>
        <p:spPr>
          <a:xfrm>
            <a:off x="2661120" y="580680"/>
            <a:ext cx="6864840" cy="51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Box 2"/>
          <p:cNvSpPr/>
          <p:nvPr/>
        </p:nvSpPr>
        <p:spPr>
          <a:xfrm>
            <a:off x="640080" y="5683680"/>
            <a:ext cx="109072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NADZALAN ET AL. (2020, APRIL). THE EFFECTS OF FOCUS ATTENTION INSTRUCTIONS ON THE MOVEMENT KINETICS, MUSCLE ACTIVATION AND PERFORMANCE DURING RESISTANCE EXERCISE. IN JOURNAL OF PHYSICS: CONFERENCE SERIES (VOL. 1529, NO. 2, P. 022008). IOP PUBLISHING..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Picture 1" descr="foco2.png"/>
          <p:cNvPicPr/>
          <p:nvPr/>
        </p:nvPicPr>
        <p:blipFill>
          <a:blip r:embed="rId1"/>
          <a:stretch/>
        </p:blipFill>
        <p:spPr>
          <a:xfrm>
            <a:off x="2438280" y="992520"/>
            <a:ext cx="7310880" cy="429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Box 2"/>
          <p:cNvSpPr/>
          <p:nvPr/>
        </p:nvSpPr>
        <p:spPr>
          <a:xfrm>
            <a:off x="640080" y="5271840"/>
            <a:ext cx="1090728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APOLINÁRIO-SOUZA ET AL. (2020). FOCUS OF ATTENTION AND ONLINE DEMONSTRATION EFFECTS ON TEMPORAL ERROR AND MUSCLE ACTIVATION. REVISTA BRASILEIRA DE CINEANTROPOMETRIA &amp; DESEMPENHO HUMANO, 22.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1" descr="lucas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2621160" y="1265400"/>
            <a:ext cx="6945120" cy="38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Oval 2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"/>
          <p:cNvSpPr/>
          <p:nvPr/>
        </p:nvSpPr>
        <p:spPr>
          <a:xfrm>
            <a:off x="640080" y="525564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videos/Lucas_lacerda_Foco_de_atencao.mp4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Picture 1" descr="foco3.png"/>
          <p:cNvPicPr/>
          <p:nvPr/>
        </p:nvPicPr>
        <p:blipFill>
          <a:blip r:embed="rId1"/>
          <a:stretch/>
        </p:blipFill>
        <p:spPr>
          <a:xfrm>
            <a:off x="883800" y="1838160"/>
            <a:ext cx="10419840" cy="317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1" descr="foco4.png"/>
          <p:cNvPicPr/>
          <p:nvPr/>
        </p:nvPicPr>
        <p:blipFill>
          <a:blip r:embed="rId1"/>
          <a:stretch/>
        </p:blipFill>
        <p:spPr>
          <a:xfrm>
            <a:off x="883800" y="1358280"/>
            <a:ext cx="10419840" cy="413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Picture 1" descr="foco5.png"/>
          <p:cNvPicPr/>
          <p:nvPr/>
        </p:nvPicPr>
        <p:blipFill>
          <a:blip r:embed="rId1"/>
          <a:stretch/>
        </p:blipFill>
        <p:spPr>
          <a:xfrm>
            <a:off x="2023200" y="868680"/>
            <a:ext cx="8140680" cy="511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b6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640080" y="2926800"/>
            <a:ext cx="1090728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UM EXEMPLO DE APLICAÇÃO NA REABILITAÇÃO: PARKISON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Picture 1" descr="visualcue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2621160" y="1241280"/>
            <a:ext cx="6945120" cy="39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Oval 2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40080" y="527976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videos/Visual_cue.mp4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1" descr="cycling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2864880" y="772560"/>
            <a:ext cx="645732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Oval 2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3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videos/Cycling_for_Freezing.mp4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icture 1" descr="foco6.png"/>
          <p:cNvPicPr/>
          <p:nvPr/>
        </p:nvPicPr>
        <p:blipFill>
          <a:blip r:embed="rId1"/>
          <a:stretch/>
        </p:blipFill>
        <p:spPr>
          <a:xfrm>
            <a:off x="3816000" y="868680"/>
            <a:ext cx="4555080" cy="511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b6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/>
          <p:nvPr/>
        </p:nvSpPr>
        <p:spPr>
          <a:xfrm>
            <a:off x="640080" y="3155040"/>
            <a:ext cx="10907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UM EXEMPLO DE APLICAÇÃO NA MUSCULAÇÃO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Picture 1" descr="gamif.jp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157280" y="772560"/>
            <a:ext cx="3872880" cy="48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Oval 2">
            <a:hlinkClick r:id="rId3"/>
          </p:cNvPr>
          <p:cNvSpPr/>
          <p:nvPr/>
        </p:nvSpPr>
        <p:spPr>
          <a:xfrm>
            <a:off x="5684400" y="2784240"/>
            <a:ext cx="818640" cy="81864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500" strike="noStrike" u="none">
                <a:solidFill>
                  <a:srgbClr val="cc0000"/>
                </a:solidFill>
                <a:effectLst/>
                <a:uFillTx/>
                <a:latin typeface="Calibri"/>
                <a:ea typeface="DejaVu Sans"/>
              </a:rPr>
              <a:t>▶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3"/>
          <p:cNvSpPr/>
          <p:nvPr/>
        </p:nvSpPr>
        <p:spPr>
          <a:xfrm>
            <a:off x="640080" y="5748480"/>
            <a:ext cx="10907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sng">
                <a:solidFill>
                  <a:srgbClr val="0000ff"/>
                </a:solidFill>
                <a:effectLst/>
                <a:uFillTx/>
                <a:latin typeface="Calibri"/>
                <a:ea typeface="DejaVu Sans"/>
                <a:hlinkClick r:id="rId4"/>
              </a:rPr>
              <a:t>▶  videos/gamificacao1.mp4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2026-09-28T11:04:24Z</dcterms:modified>
  <cp:revision>101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